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a9c0a1c5d7c43d1" /><Relationship Type="http://schemas.openxmlformats.org/officeDocument/2006/relationships/extended-properties" Target="/docProps/app.xml" Id="Rbdea3fb1c5954fc3" /><Relationship Type="http://schemas.openxmlformats.org/officeDocument/2006/relationships/officeDocument" Target="/ppt/presentation.xml" Id="R9083ccde218c45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8d31257026a4f5c"/>
  </p:sldMasterIdLst>
  <p:notesMasterIdLst>
    <p:notesMasterId xmlns:r="http://schemas.openxmlformats.org/officeDocument/2006/relationships" r:id="Raade66027e3b413a"/>
  </p:notesMasterIdLst>
  <p:sldIdLst>
    <p:sldId xmlns:r="http://schemas.openxmlformats.org/officeDocument/2006/relationships" id="256" r:id="R608eaf699830413d"/>
    <p:sldId xmlns:r="http://schemas.openxmlformats.org/officeDocument/2006/relationships" id="257" r:id="R336bdb284ea8433f"/>
    <p:sldId xmlns:r="http://schemas.openxmlformats.org/officeDocument/2006/relationships" id="258" r:id="Rfec93d6df0bf4d9b"/>
    <p:sldId xmlns:r="http://schemas.openxmlformats.org/officeDocument/2006/relationships" id="259" r:id="Rf6e571af24264030"/>
    <p:sldId xmlns:r="http://schemas.openxmlformats.org/officeDocument/2006/relationships" id="260" r:id="Rf8fe523557d0425c"/>
    <p:sldId xmlns:r="http://schemas.openxmlformats.org/officeDocument/2006/relationships" id="261" r:id="Rb5bbb8bf779f418c"/>
    <p:sldId xmlns:r="http://schemas.openxmlformats.org/officeDocument/2006/relationships" id="262" r:id="Rf003dfab6a1f4ca5"/>
    <p:sldId xmlns:r="http://schemas.openxmlformats.org/officeDocument/2006/relationships" id="263" r:id="Rf00ecd35f2f14f8d"/>
    <p:sldId xmlns:r="http://schemas.openxmlformats.org/officeDocument/2006/relationships" id="264" r:id="R9ac5364cca254ab0"/>
    <p:sldId xmlns:r="http://schemas.openxmlformats.org/officeDocument/2006/relationships" id="265" r:id="R2ccc93a057954641"/>
    <p:sldId xmlns:r="http://schemas.openxmlformats.org/officeDocument/2006/relationships" id="266" r:id="R4e1a76ba004f4ce8"/>
    <p:sldId xmlns:r="http://schemas.openxmlformats.org/officeDocument/2006/relationships" id="267" r:id="Rc1e08440befc43cd"/>
    <p:sldId xmlns:r="http://schemas.openxmlformats.org/officeDocument/2006/relationships" id="268" r:id="Rb2199ba300364305"/>
    <p:sldId xmlns:r="http://schemas.openxmlformats.org/officeDocument/2006/relationships" id="269" r:id="R1507f3b915664d07"/>
    <p:sldId xmlns:r="http://schemas.openxmlformats.org/officeDocument/2006/relationships" id="270" r:id="R2e9165988ddc4da5"/>
    <p:sldId xmlns:r="http://schemas.openxmlformats.org/officeDocument/2006/relationships" id="271" r:id="Re045a516de0f40a2"/>
    <p:sldId xmlns:r="http://schemas.openxmlformats.org/officeDocument/2006/relationships" id="272" r:id="Ra7ffaa8a08bf4872"/>
    <p:sldId xmlns:r="http://schemas.openxmlformats.org/officeDocument/2006/relationships" id="273" r:id="Rc60077db2fa14530"/>
    <p:sldId xmlns:r="http://schemas.openxmlformats.org/officeDocument/2006/relationships" id="274" r:id="R025d79d892ea45fc"/>
    <p:sldId xmlns:r="http://schemas.openxmlformats.org/officeDocument/2006/relationships" id="275" r:id="R85cea7ad409046a4"/>
    <p:sldId xmlns:r="http://schemas.openxmlformats.org/officeDocument/2006/relationships" id="276" r:id="R0b0c82aa29c0463f"/>
    <p:sldId xmlns:r="http://schemas.openxmlformats.org/officeDocument/2006/relationships" id="277" r:id="Rb872ba3932154e3c"/>
    <p:sldId xmlns:r="http://schemas.openxmlformats.org/officeDocument/2006/relationships" id="278" r:id="R79b80741e5884081"/>
    <p:sldId xmlns:r="http://schemas.openxmlformats.org/officeDocument/2006/relationships" id="279" r:id="Re6a439679566449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6b54a7c8ce458d" /><Relationship Type="http://schemas.openxmlformats.org/officeDocument/2006/relationships/slideMaster" Target="/ppt/slideMasters/slideMaster1.xml" Id="R28d31257026a4f5c" /><Relationship Type="http://schemas.openxmlformats.org/officeDocument/2006/relationships/notesMaster" Target="/ppt/notesMasters/notesMaster1.xml" Id="Raade66027e3b413a" /><Relationship Type="http://schemas.openxmlformats.org/officeDocument/2006/relationships/presProps" Target="/ppt/presProps.xml" Id="R2e9b6b171ad942c8" /><Relationship Type="http://schemas.openxmlformats.org/officeDocument/2006/relationships/tableStyles" Target="/ppt/tableStyles.xml" Id="R6a3328e4bb4d4e88" /><Relationship Type="http://schemas.openxmlformats.org/officeDocument/2006/relationships/slide" Target="/ppt/slides/slide1.xml" Id="R608eaf699830413d" /><Relationship Type="http://schemas.openxmlformats.org/officeDocument/2006/relationships/slide" Target="/ppt/slides/slide2.xml" Id="R336bdb284ea8433f" /><Relationship Type="http://schemas.openxmlformats.org/officeDocument/2006/relationships/slide" Target="/ppt/slides/slide3.xml" Id="Rfec93d6df0bf4d9b" /><Relationship Type="http://schemas.openxmlformats.org/officeDocument/2006/relationships/slide" Target="/ppt/slides/slide4.xml" Id="Rf6e571af24264030" /><Relationship Type="http://schemas.openxmlformats.org/officeDocument/2006/relationships/slide" Target="/ppt/slides/slide5.xml" Id="Rf8fe523557d0425c" /><Relationship Type="http://schemas.openxmlformats.org/officeDocument/2006/relationships/slide" Target="/ppt/slides/slide6.xml" Id="Rb5bbb8bf779f418c" /><Relationship Type="http://schemas.openxmlformats.org/officeDocument/2006/relationships/slide" Target="/ppt/slides/slide7.xml" Id="Rf003dfab6a1f4ca5" /><Relationship Type="http://schemas.openxmlformats.org/officeDocument/2006/relationships/slide" Target="/ppt/slides/slide8.xml" Id="Rf00ecd35f2f14f8d" /><Relationship Type="http://schemas.openxmlformats.org/officeDocument/2006/relationships/slide" Target="/ppt/slides/slide9.xml" Id="R9ac5364cca254ab0" /><Relationship Type="http://schemas.openxmlformats.org/officeDocument/2006/relationships/slide" Target="/ppt/slides/slide10.xml" Id="R2ccc93a057954641" /><Relationship Type="http://schemas.openxmlformats.org/officeDocument/2006/relationships/slide" Target="/ppt/slides/slide11.xml" Id="R4e1a76ba004f4ce8" /><Relationship Type="http://schemas.openxmlformats.org/officeDocument/2006/relationships/slide" Target="/ppt/slides/slide12.xml" Id="Rc1e08440befc43cd" /><Relationship Type="http://schemas.openxmlformats.org/officeDocument/2006/relationships/slide" Target="/ppt/slides/slide13.xml" Id="Rb2199ba300364305" /><Relationship Type="http://schemas.openxmlformats.org/officeDocument/2006/relationships/slide" Target="/ppt/slides/slide14.xml" Id="R1507f3b915664d07" /><Relationship Type="http://schemas.openxmlformats.org/officeDocument/2006/relationships/slide" Target="/ppt/slides/slide15.xml" Id="R2e9165988ddc4da5" /><Relationship Type="http://schemas.openxmlformats.org/officeDocument/2006/relationships/slide" Target="/ppt/slides/slide16.xml" Id="Re045a516de0f40a2" /><Relationship Type="http://schemas.openxmlformats.org/officeDocument/2006/relationships/slide" Target="/ppt/slides/slide17.xml" Id="Ra7ffaa8a08bf4872" /><Relationship Type="http://schemas.openxmlformats.org/officeDocument/2006/relationships/slide" Target="/ppt/slides/slide18.xml" Id="Rc60077db2fa14530" /><Relationship Type="http://schemas.openxmlformats.org/officeDocument/2006/relationships/slide" Target="/ppt/slides/slide19.xml" Id="R025d79d892ea45fc" /><Relationship Type="http://schemas.openxmlformats.org/officeDocument/2006/relationships/slide" Target="/ppt/slides/slide20.xml" Id="R85cea7ad409046a4" /><Relationship Type="http://schemas.openxmlformats.org/officeDocument/2006/relationships/slide" Target="/ppt/slides/slide21.xml" Id="R0b0c82aa29c0463f" /><Relationship Type="http://schemas.openxmlformats.org/officeDocument/2006/relationships/slide" Target="/ppt/slides/slide22.xml" Id="Rb872ba3932154e3c" /><Relationship Type="http://schemas.openxmlformats.org/officeDocument/2006/relationships/slide" Target="/ppt/slides/slide23.xml" Id="R79b80741e5884081" /><Relationship Type="http://schemas.openxmlformats.org/officeDocument/2006/relationships/slide" Target="/ppt/slides/slide24.xml" Id="Re6a43967956644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13df335a69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39ae44f8fc74ee7" /><Relationship Type="http://schemas.openxmlformats.org/officeDocument/2006/relationships/notesMaster" Target="/ppt/notesMasters/notesMaster1.xml" Id="Rb1ab64a19a2449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2b50ab85b6f4e44" /><Relationship Type="http://schemas.openxmlformats.org/officeDocument/2006/relationships/notesMaster" Target="/ppt/notesMasters/notesMaster1.xml" Id="Raea2bbdfe553465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8ded2af0054ab6" /><Relationship Type="http://schemas.openxmlformats.org/officeDocument/2006/relationships/notesMaster" Target="/ppt/notesMasters/notesMaster1.xml" Id="R9e4455f4bf04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98808c52d5463c" /><Relationship Type="http://schemas.openxmlformats.org/officeDocument/2006/relationships/notesMaster" Target="/ppt/notesMasters/notesMaster1.xml" Id="R715fac4d6415467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a4b4d1a5da4a2f" /><Relationship Type="http://schemas.openxmlformats.org/officeDocument/2006/relationships/notesMaster" Target="/ppt/notesMasters/notesMaster1.xml" Id="Ra718eb7f37cb426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8e72a8647a845fa" /><Relationship Type="http://schemas.openxmlformats.org/officeDocument/2006/relationships/notesMaster" Target="/ppt/notesMasters/notesMaster1.xml" Id="R8c0925a28bec43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a2f4ee9d3341d3" /><Relationship Type="http://schemas.openxmlformats.org/officeDocument/2006/relationships/notesMaster" Target="/ppt/notesMasters/notesMaster1.xml" Id="R56c5ceff5deb491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da3515a727b4bea" /><Relationship Type="http://schemas.openxmlformats.org/officeDocument/2006/relationships/notesMaster" Target="/ppt/notesMasters/notesMaster1.xml" Id="R5d0a40ddf93042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efa9cb14e534ca9" /><Relationship Type="http://schemas.openxmlformats.org/officeDocument/2006/relationships/notesMaster" Target="/ppt/notesMasters/notesMaster1.xml" Id="Rc35c391e29a24bf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dc4df862e21473e" /><Relationship Type="http://schemas.openxmlformats.org/officeDocument/2006/relationships/notesMaster" Target="/ppt/notesMasters/notesMaster1.xml" Id="R8d539de71c61451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155d8b2c3ab4525" /><Relationship Type="http://schemas.openxmlformats.org/officeDocument/2006/relationships/notesMaster" Target="/ppt/notesMasters/notesMaster1.xml" Id="R3637434ddf1a40b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fd4a28a5fc4a1b" /><Relationship Type="http://schemas.openxmlformats.org/officeDocument/2006/relationships/notesMaster" Target="/ppt/notesMasters/notesMaster1.xml" Id="Rd337079f28704d1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c3cd0777a8e4cf6" /><Relationship Type="http://schemas.openxmlformats.org/officeDocument/2006/relationships/notesMaster" Target="/ppt/notesMasters/notesMaster1.xml" Id="Rf145538399274f5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22ff721d29344c9" /><Relationship Type="http://schemas.openxmlformats.org/officeDocument/2006/relationships/notesMaster" Target="/ppt/notesMasters/notesMaster1.xml" Id="Rc01883ba5cc84cf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515c88836894d5b" /><Relationship Type="http://schemas.openxmlformats.org/officeDocument/2006/relationships/notesMaster" Target="/ppt/notesMasters/notesMaster1.xml" Id="R1f4d660eed0841c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ab58e909059403f" /><Relationship Type="http://schemas.openxmlformats.org/officeDocument/2006/relationships/notesMaster" Target="/ppt/notesMasters/notesMaster1.xml" Id="R04df14ee933b493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d95d4c5fa914683" /><Relationship Type="http://schemas.openxmlformats.org/officeDocument/2006/relationships/notesMaster" Target="/ppt/notesMasters/notesMaster1.xml" Id="R70019126b6e9471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7eba823ecf8469d" /><Relationship Type="http://schemas.openxmlformats.org/officeDocument/2006/relationships/notesMaster" Target="/ppt/notesMasters/notesMaster1.xml" Id="Rbb4858d3242646f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eafc72a54724205" /><Relationship Type="http://schemas.openxmlformats.org/officeDocument/2006/relationships/notesMaster" Target="/ppt/notesMasters/notesMaster1.xml" Id="R60dbb5d4c0df4e0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e7379f707aa4143" /><Relationship Type="http://schemas.openxmlformats.org/officeDocument/2006/relationships/notesMaster" Target="/ppt/notesMasters/notesMaster1.xml" Id="Rec26ee459a14449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c7626c0d287488e" /><Relationship Type="http://schemas.openxmlformats.org/officeDocument/2006/relationships/notesMaster" Target="/ppt/notesMasters/notesMaster1.xml" Id="R342709c294cd460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579e1cfbabb481a" /><Relationship Type="http://schemas.openxmlformats.org/officeDocument/2006/relationships/notesMaster" Target="/ppt/notesMasters/notesMaster1.xml" Id="Rc6d6acef9b674a9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eedd34b289bc4730" /><Relationship Type="http://schemas.openxmlformats.org/officeDocument/2006/relationships/notesMaster" Target="/ppt/notesMasters/notesMaster1.xml" Id="Ra47ef7c9f09c4a3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0edda46917764358" /><Relationship Type="http://schemas.openxmlformats.org/officeDocument/2006/relationships/notesMaster" Target="/ppt/notesMasters/notesMaster1.xml" Id="Redf35daa920e42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Engineering review of the closed milestone. Compiler/crate versions remain unchanged. Scope and formal guarantees follow the final report.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Frozen commit audit:03c03a39..0d7610b2,104/104 conventional,DCO and Git signature statusG. Raw audit ships with the final metrics.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Excerpt: https://github.com/MediaNoxLabs/compact/blob/0d7610b2792d60fee5d3713d4eb0ede3c98cc82a/doc/rust/guides/examples/witnessed-cell/witnesses_oracle.compact</a:t>
            </a:r>
          </a:p>
          <a:p xmlns:a="http://schemas.openxmlformats.org/drawingml/2006/main">
            <a:r>
              <a:t>Generated witness interface usage: https://github.com/MediaNoxLabs/compact/blob/0d7610b2792d60fee5d3713d4eb0ede3c98cc82a/doc/rust/guides/examples/witnessed-cell/tests/witnessed.rs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method excerpt from https://github.com/MediaNoxLabs/compact/blob/0d7610b2792d60fee5d3713d4eb0ede3c98cc82a/doc/rust/guides/examples/witnessed-cell/tests/witnessed.rs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Exact enum excerpt: https://github.com/MediaNoxLabs/compact/blob/0d7610b2792d60fee5d3713d4eb0ede3c98cc82a/runtime-rs/tests/enum_derive.rs</a:t>
            </a:r>
          </a:p>
          <a:p xmlns:a="http://schemas.openxmlformats.org/drawingml/2006/main">
            <a:r>
              <a:t>Derive policy: https://github.com/MediaNoxLabs/compact/blob/0d7610b2792d60fee5d3713d4eb0ede3c98cc82a/runtime-rs-macros/README.md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Maintained externally validated test excerpt: https://github.com/MediaNoxLabs/compact/blob/0d7610b2792d60fee5d3713d4eb0ede3c98cc82a/doc/rust/guides/examples/witnessed-cell/tests/witnessed.rs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excerpt: https://github.com/MediaNoxLabs/compact/blob/0d7610b2792d60fee5d3713d4eb0ede3c98cc82a/doc/rust/guides/local-proof-tests.md</a:t>
            </a:r>
          </a:p>
          <a:p xmlns:a="http://schemas.openxmlformats.org/drawingml/2006/main">
            <a:r>
              <a:t>Source: https://github.com/MediaNoxLabs/compact/blob/0d7610b2792d60fee5d3713d4eb0ede3c98cc82a/testkit-rs/src/proof.rs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API source: https://github.com/MediaNoxLabs/compact/blob/0d7610b2792d60fee5d3713d4eb0ede3c98cc82a/runtime-rs/src/transaction/decoding.rs</a:t>
            </a:r>
          </a:p>
          <a:p xmlns:a="http://schemas.openxmlformats.org/drawingml/2006/main">
            <a:r>
              <a:t>DecisionADR0359 and CoPS001.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Integration inspection frozen at develop7e38fc66 and AST0d7610b2. Read-only git merge-tree found17conflict paths. Actual developflake8.0.2 despite ledger9-labeled HEAD subject. See metrics/develop-integration-review.md in this delivery.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Links: https://github.com/MediaNoxLabs/compact/blob/0d7610b2792d60fee5d3713d4eb0ede3c98cc82a/doc/rust/0.3.0-closure.md</a:t>
            </a:r>
          </a:p>
          <a:p xmlns:a="http://schemas.openxmlformats.org/drawingml/2006/main">
            <a:r>
              <a:t>https://github.com/MediaNoxLabs/compact/blob/0d7610b2792d60fee5d3713d4eb0ede3c98cc82a/doc/rust/evidence/0.3.0/closure/crosswalk.md</a:t>
            </a:r>
          </a:p>
          <a:p xmlns:a="http://schemas.openxmlformats.org/drawingml/2006/main">
            <a:r>
              <a:t>https://github.com/MediaNoxLabs/compact/blob/0d7610b2792d60fee5d3713d4eb0ede3c98cc82a/doc/rust/guides/index.md</a:t>
            </a:r>
          </a:p>
          <a:p xmlns:a="http://schemas.openxmlformats.org/drawingml/2006/main">
            <a:r>
              <a:t>https://github.com/MediaNoxLabs/compact/blob/0d7610b2792d60fee5d3713d4eb0ede3c98cc82a/doc/rust/adr/README.md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Primary source: https://github.com/MediaNoxLabs/compact/blob/0d7610b2792d60fee5d3713d4eb0ede3c98cc82a/doc/rust/0.3.0-closure.md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42309569974ec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083ec476b374583" /><Relationship Type="http://schemas.openxmlformats.org/officeDocument/2006/relationships/slideLayout" Target="/ppt/slideLayouts/slideLayout1.xml" Id="R28b0d2af7d2847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8b0d2af7d2847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bb60c3c164688" /><Relationship Type="http://schemas.openxmlformats.org/officeDocument/2006/relationships/notesSlide" Target="/ppt/notesSlides/notesSlide1.xml" Id="Rbdee112163c14ed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77d4098d4248d8" /><Relationship Type="http://schemas.openxmlformats.org/officeDocument/2006/relationships/notesSlide" Target="/ppt/notesSlides/notesSlide2.xml" Id="Rb3037b2db5f14bb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71ec0b9b6484f" /><Relationship Type="http://schemas.openxmlformats.org/officeDocument/2006/relationships/notesSlide" Target="/ppt/notesSlides/notesSlide3.xml" Id="Re515ec97e2774cd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aa40e821944b2a" /><Relationship Type="http://schemas.openxmlformats.org/officeDocument/2006/relationships/notesSlide" Target="/ppt/notesSlides/notesSlide4.xml" Id="Rd15ecd6523c5489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9589677504e6b" /><Relationship Type="http://schemas.openxmlformats.org/officeDocument/2006/relationships/notesSlide" Target="/ppt/notesSlides/notesSlide5.xml" Id="Rd289b0d0c2bd4a0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93c7e28d24d05" /><Relationship Type="http://schemas.openxmlformats.org/officeDocument/2006/relationships/notesSlide" Target="/ppt/notesSlides/notesSlide6.xml" Id="R5d1a4815580f41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b7b832f8e4273" /><Relationship Type="http://schemas.openxmlformats.org/officeDocument/2006/relationships/notesSlide" Target="/ppt/notesSlides/notesSlide7.xml" Id="R7bbf7e677f1f49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168678a48f40cc" /><Relationship Type="http://schemas.openxmlformats.org/officeDocument/2006/relationships/notesSlide" Target="/ppt/notesSlides/notesSlide8.xml" Id="R84ef0cfb0cfc455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9b4d275394901" /><Relationship Type="http://schemas.openxmlformats.org/officeDocument/2006/relationships/notesSlide" Target="/ppt/notesSlides/notesSlide9.xml" Id="Rfee4f38ceffe4d0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68b148e9c6468e" /><Relationship Type="http://schemas.openxmlformats.org/officeDocument/2006/relationships/notesSlide" Target="/ppt/notesSlides/notesSlide10.xml" Id="Rb2ee145638cd470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04c3aeac2a445b" /><Relationship Type="http://schemas.openxmlformats.org/officeDocument/2006/relationships/notesSlide" Target="/ppt/notesSlides/notesSlide11.xml" Id="Rc4aaaf68b5f349f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b54fb0f27d485d" /><Relationship Type="http://schemas.openxmlformats.org/officeDocument/2006/relationships/notesSlide" Target="/ppt/notesSlides/notesSlide12.xml" Id="R684c1c6d55d249f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b4dc652904b4d" /><Relationship Type="http://schemas.openxmlformats.org/officeDocument/2006/relationships/notesSlide" Target="/ppt/notesSlides/notesSlide13.xml" Id="R40f8d11af4e34f9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2ae8f482754e71" /><Relationship Type="http://schemas.openxmlformats.org/officeDocument/2006/relationships/notesSlide" Target="/ppt/notesSlides/notesSlide14.xml" Id="R147b2975ca62418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f08389cf914481" /><Relationship Type="http://schemas.openxmlformats.org/officeDocument/2006/relationships/notesSlide" Target="/ppt/notesSlides/notesSlide15.xml" Id="Rbaf42a8fde0a4f4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d6dd0556134a1f" /><Relationship Type="http://schemas.openxmlformats.org/officeDocument/2006/relationships/notesSlide" Target="/ppt/notesSlides/notesSlide16.xml" Id="R4e37ead949244f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86c5147ff14183" /><Relationship Type="http://schemas.openxmlformats.org/officeDocument/2006/relationships/notesSlide" Target="/ppt/notesSlides/notesSlide17.xml" Id="Rdf21e724cbd24e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6bcff51c4546f3" /><Relationship Type="http://schemas.openxmlformats.org/officeDocument/2006/relationships/notesSlide" Target="/ppt/notesSlides/notesSlide18.xml" Id="Rfb57215c1d61420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7f984f509c44a1" /><Relationship Type="http://schemas.openxmlformats.org/officeDocument/2006/relationships/notesSlide" Target="/ppt/notesSlides/notesSlide19.xml" Id="R43fcfd91c43743b3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80364686f34214" /><Relationship Type="http://schemas.openxmlformats.org/officeDocument/2006/relationships/notesSlide" Target="/ppt/notesSlides/notesSlide20.xml" Id="R9372d347e15346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e7cfed33844350" /><Relationship Type="http://schemas.openxmlformats.org/officeDocument/2006/relationships/notesSlide" Target="/ppt/notesSlides/notesSlide21.xml" Id="R8b77f914fdee40b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0b0753277455a" /><Relationship Type="http://schemas.openxmlformats.org/officeDocument/2006/relationships/notesSlide" Target="/ppt/notesSlides/notesSlide22.xml" Id="Rac59ac09ab674ea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a0822a968943cc" /><Relationship Type="http://schemas.openxmlformats.org/officeDocument/2006/relationships/notesSlide" Target="/ppt/notesSlides/notesSlide23.xml" Id="R1f51af7316dc479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c907f217944bf0" /><Relationship Type="http://schemas.openxmlformats.org/officeDocument/2006/relationships/notesSlide" Target="/ppt/notesSlides/notesSlide24.xml" Id="R6a8c2d9976364c0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B4D27B-21E1-4A5A-9635-3D388877B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Compact Rust</a:t>
            </a:r>
          </a:p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Milestone 0.3.0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88C570-DE16-430D-AE2E-362CC3371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D36FC7-12F5-44B6-9B1B-F04C3B4B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Typed runtime. Generated APIs. Contract testing.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89DF24-30F7-4EF2-8409-091651658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Engineering acceptance and develop integration review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B6351-3009-4783-BA39-4EEABCE47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91175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9 October 2026</a:t>
            </a:r>
          </a:p>
        </p:txBody>
      </p:sp>
    </p:spTree>
    <p:extLst>
      <p:ext uri="{BB962C8B-B14F-4D97-AF65-F5344CB8AC3E}">
        <p14:creationId xmlns:p14="http://schemas.microsoft.com/office/powerpoint/2010/main" val="138763850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624660-6E8E-4FAF-85F4-FAC09A6AB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Final milestone metrics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07487E-E781-41E7-B519-2B501E30F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EBD39F-C31D-4580-88A1-69474D85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19 / 19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E5453E-07B6-4D96-934E-7227E17C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859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93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722ED4-028E-478B-99D4-94856FE7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18859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121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44A27F-108D-4ADA-B7B0-9482CE80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188595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25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525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136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CE3C3-6D64-4B4D-A956-D2837A6F1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325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required outcomes</a:t>
            </a:r>
          </a:p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accepted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F607EB-DCB7-466B-A3F3-ADAF6F0DC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4325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acceptance</a:t>
            </a:r>
          </a:p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criteria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7EF762-D1CF-4E53-93A7-12A4E8EF5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14325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milestone ADRs</a:t>
            </a:r>
          </a:p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published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071E13-1D5C-4025-BDB3-428653BE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143250"/>
            <a:ext cx="247650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issues closed</a:t>
            </a:r>
          </a:p>
          <a:p xmlns:a="http://schemas.openxmlformats.org/drawingml/2006/main">
            <a:pPr>
              <a:defRPr sz="210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zero open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4A92B-F5D9-4EFF-B7D8-51B440206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104 milestone commits have conventional subjects, DCO sign-offs and verified GPG signatures.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0BED38-436D-40A5-9B6E-2C84BC6D1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ACC is the removed twentieth outcome. The published ADR collection now contains 360 records.</a:t>
            </a:r>
          </a:p>
        </p:txBody>
      </p:sp>
    </p:spTree>
    <p:extLst>
      <p:ext uri="{BB962C8B-B14F-4D97-AF65-F5344CB8AC3E}">
        <p14:creationId xmlns:p14="http://schemas.microsoft.com/office/powerpoint/2010/main" val="11900042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4762F-3949-46B1-8F62-E55F400F6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Delivered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4C9C9-E9E6-44F9-8B12-1EE2A26F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82955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Accepted outcome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Compiler and runtime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Typed ownership, checked values and structured Rust emission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Generated APIs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Focused derives, stable names and measured API probes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ContractLab and ProofLab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Native execution, VM replay and official provider setup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Application adoption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DID v0.7.0 and the selected digital-passport source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Engineering assurance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Regression reducers, audits, coverage and reproducible gates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Documentation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Current guides, decision history and acceptance crosswalk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FB80CE-A1C7-44EB-B981-6C09F788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Each outcome has a bounded acceptance statement in the 93-criterion crosswalk.</a:t>
            </a:r>
          </a:p>
        </p:txBody>
      </p:sp>
    </p:spTree>
    <p:extLst>
      <p:ext uri="{BB962C8B-B14F-4D97-AF65-F5344CB8AC3E}">
        <p14:creationId xmlns:p14="http://schemas.microsoft.com/office/powerpoint/2010/main" val="19623144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9383A2-931F-41E8-90AC-ACBE17C5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Compiler and runtime ownership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B2C3D1-52B8-467F-B291-A68A94453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333750"/>
                <a:gridCol w="7639050"/>
              </a:tblGrid>
              <a:tr h="5715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Responsibility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Compact frontend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Type-check source and lower language constructs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Private Rust IR 20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Carry typed identities, values and source context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AST emitter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Construct Rust syntax with syn, quote and proc-macro2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Recorded planner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Admit complete effect plans and typed VM operands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Rust runtime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Adapt values and execution to official ledger8 / zk domains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prettyplease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Format the generated syntax tree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0ACF4-818E-4CCA-B545-9E16CAF6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IR 20 is an internal backend contract. It is not a public Compact language schema.</a:t>
            </a:r>
          </a:p>
        </p:txBody>
      </p:sp>
    </p:spTree>
    <p:extLst>
      <p:ext uri="{BB962C8B-B14F-4D97-AF65-F5344CB8AC3E}">
        <p14:creationId xmlns:p14="http://schemas.microsoft.com/office/powerpoint/2010/main" val="11862555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A59BF9-FC5E-446C-98D8-BB9D00F4F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Domain model and upstream primitives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ED2AB-623C-4723-9C52-18A9D0B9F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714500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28875"/>
                <a:gridCol w="4429125"/>
                <a:gridCol w="4114800"/>
              </a:tblGrid>
              <a:tr h="6191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Concern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Rust-facing model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Semantic owner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Compact values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Field, BoundedUint, FixedBytes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Checked runtime mappings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State and paths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Ledger views and typed slots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Official on-chain state / VM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Call execution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Owned contexts and results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Generated API + runtime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Recorded effects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Sealed programs and replay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Planner + official VM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Proof material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Resolver and parameter provider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Official zk/provider crates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A5C19F-396C-4838-92E3-8CED88BB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No replacement VM or cryptographic semantics. Native runtime pins ledger 8.0.3.</a:t>
            </a:r>
          </a:p>
        </p:txBody>
      </p:sp>
    </p:spTree>
    <p:extLst>
      <p:ext uri="{BB962C8B-B14F-4D97-AF65-F5344CB8AC3E}">
        <p14:creationId xmlns:p14="http://schemas.microsoft.com/office/powerpoint/2010/main" val="36354107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44DC00-4382-4E63-818A-0522BC09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A witnessed Compact circuit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5AE912-9F45-4790-A41D-3FBD6726A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7E14B8-3656-457A-9790-95AE946E3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9532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witness fetch_field(): Field;</a:t>
            </a:r>
          </a:p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export ledger v: Field;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export circuit pull(): [] {</a:t>
            </a:r>
          </a:p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const x = fetch_field();</a:t>
            </a:r>
          </a:p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v.write(disclose(x));</a:t>
            </a:r>
          </a:p>
          <a:p xmlns:a="http://schemas.openxmlformats.org/drawingml/2006/main">
            <a:pPr>
              <a:defRPr sz="22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2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4C99C3-4ABD-447A-A9DF-7BBA8766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857375"/>
            <a:ext cx="33337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The generated crate exposes</a:t>
            </a:r>
          </a:p>
          <a:p xmlns:a="http://schemas.openxmlformats.org/drawingml/2006/main">
            <a:pPr>
              <a:defRPr sz="217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 typed witness trait and</a:t>
            </a:r>
          </a:p>
          <a:p xmlns:a="http://schemas.openxmlformats.org/drawingml/2006/main">
            <a:pPr>
              <a:defRPr sz="217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ordinary Rust circuit calls.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7C44F6-3ABD-4548-B0B6-8B5F7B4E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Source excerpt. The compiler retains source typing and disclosure rules.</a:t>
            </a:r>
          </a:p>
        </p:txBody>
      </p:sp>
    </p:spTree>
    <p:extLst>
      <p:ext uri="{BB962C8B-B14F-4D97-AF65-F5344CB8AC3E}">
        <p14:creationId xmlns:p14="http://schemas.microsoft.com/office/powerpoint/2010/main" val="110260637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70280-B003-4B64-A674-F682CF0C4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Typed witness implementation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50FB47-85D6-4A1E-9707-CB1F1AF3F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4F2E1-C6C4-4A14-940F-AFD44C070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8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fn fetch_field(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&amp;self,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context: WitnessContext&lt;'_, Private, cell::LedgerView&lt;'_&gt;&gt;,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) -&gt; Result&lt;(Private, Field), CompactError&gt; {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let _observed = context.ledger.v()?;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let mut private = context.private_state.clone();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let answer = private.script.answer(())?;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private.calls += 1;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Ok((private, answer))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019434-8A25-4A31-BC41-B21768CB5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The witness returns its updated private state explicitly. Errors retain their typed boundary.</a:t>
            </a:r>
          </a:p>
        </p:txBody>
      </p:sp>
    </p:spTree>
    <p:extLst>
      <p:ext uri="{BB962C8B-B14F-4D97-AF65-F5344CB8AC3E}">
        <p14:creationId xmlns:p14="http://schemas.microsoft.com/office/powerpoint/2010/main" val="672731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34EEE4-7BA1-4AC6-8D79-1511C0995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Derives own representation boilerplate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EA7D2-E1F0-4108-B867-BEE68461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F48888-FC6A-4509-B023-E131B1BDC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108585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#[derive(Clone, Copy, Debug, PartialEq, Eq,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     CompactCellValue, CompactEnum)]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#[allow(non_camel_case_types)]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enum Choice {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yes,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no,</a:t>
            </a:r>
          </a:p>
          <a:p xmlns:a="http://schemas.openxmlformats.org/drawingml/2006/main">
            <a:pPr>
              <a:defRPr sz="21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1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}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0235C5-D894-432A-A9EF-F3ECA1FA2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668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CompactEnum checks field and binary representations.</a:t>
            </a:r>
          </a:p>
          <a:p xmlns:a="http://schemas.openxmlformats.org/drawingml/2006/main">
            <a:pPr>
              <a:defRPr sz="2100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Variant order defines ordinals. Invalid enum shapes fail early.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793FCB-7DCF-42C0-9C25-A79B4DEA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Semantic circuit bodies remain ordinary Rust. Broad circuit-body DSL promotion stays deferred.</a:t>
            </a:r>
          </a:p>
        </p:txBody>
      </p:sp>
    </p:spTree>
    <p:extLst>
      <p:ext uri="{BB962C8B-B14F-4D97-AF65-F5344CB8AC3E}">
        <p14:creationId xmlns:p14="http://schemas.microsoft.com/office/powerpoint/2010/main" val="15130599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11C6A-07C7-46D0-AFCA-44589508F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ContractLab compares execution and replay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2E631E-62DD-40F0-892A-1EA463873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9EC64-8140-461E-96F1-0472E4B4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1097280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mut native = lab.fork();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expected = native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.native(|ctx| cell::pull(ctx, &amp;CellWitness))?;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report = lab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    .recorded(|ctx| cell::recorded::pull(ctx, &amp;CellWitness))?;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assert_eq!(report.public_state(), expected.public_state());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assert_eq!(report.effects(), expected.effects());</a:t>
            </a:r>
          </a:p>
          <a:p xmlns:a="http://schemas.openxmlformats.org/drawingml/2006/main">
            <a:pPr>
              <a:defRPr sz="187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187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assert_eq!(report.execution_gas(), expected.execution_gas());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AD004B-1678-4276-8EA4-DE7A969C0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Adapted excerpt uses ? for brevity. The maintained test also checks exhaustion and checkpoint restore.</a:t>
            </a:r>
          </a:p>
        </p:txBody>
      </p:sp>
    </p:spTree>
    <p:extLst>
      <p:ext uri="{BB962C8B-B14F-4D97-AF65-F5344CB8AC3E}">
        <p14:creationId xmlns:p14="http://schemas.microsoft.com/office/powerpoint/2010/main" val="21030213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DCFDA-E64C-4DE7-BAAB-0FFCB3146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Testkit guarantees and boundaries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49B4B5-4364-4AE4-9AE1-FDA6A1ED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95450"/>
          <a:ext xmlns:a="http://schemas.openxmlformats.org/drawingml/2006/main" cx="10972800" cy="3762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381250"/>
                <a:gridCol w="4067175"/>
                <a:gridCol w="4524375"/>
              </a:tblGrid>
              <a:tr h="627063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Accepted guarantee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Boundary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Snapshot / fork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Owned state checkpoints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Shared external witness effects persist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Failed execution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Committed checkpoint survives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Adapters remain trusted Rust code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Witness scripts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Exact answers and call journal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No automatic IO rollback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Recorded calls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Actual VM replay and reports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Replay alone establishes no proof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27063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Artifact identity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Detect declared mismatches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Hashes alone do not authenticate origin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669369-760E-4E9C-8012-09D29887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Query-summed execution gas and replay gas remain separate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91641975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93D90D-2906-40AC-9C83-4B62F9114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ProofLab reuses official providers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EBC854-B907-42D8-9CA7-88D6E0901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578A6-D15C-41C9-AA3D-784422D94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09728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proofs = ProofLab::new(resolver, params);</a:t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provider = proofs.provider(rng);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skip_sequence = provider.check(&amp;preimage).await?;</a:t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proof = provider.prove(&amp;preimage, None).await?;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62D82-B906-4452-9550-338E43B99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86250"/>
            <a:ext cx="107632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Resolver + ParamsProverProvider</a:t>
            </a:r>
          </a:p>
          <a:p xmlns:a="http://schemas.openxmlformats.org/drawingml/2006/main">
            <a:pPr>
              <a:defRPr sz="217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LocalProvingProvider implements the official ProvingProvider trait.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E609F2-2479-465C-9CC0-8BD0C8C62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API excerpt. Fixture tests cover real checks and proof refusal. Successful proving has separate receipts.</a:t>
            </a:r>
          </a:p>
        </p:txBody>
      </p:sp>
    </p:spTree>
    <p:extLst>
      <p:ext uri="{BB962C8B-B14F-4D97-AF65-F5344CB8AC3E}">
        <p14:creationId xmlns:p14="http://schemas.microsoft.com/office/powerpoint/2010/main" val="91800049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C9920A-A3A3-4AB1-A42E-F61F73A56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Checked input admission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CC50F4-3760-4CD6-93C0-B2C554D68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06D517-5FC2-4B4A-86F6-9319E0EE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limit = EncodedSizeLimit::default();</a:t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key = decode_verifier_key_with_limit(bytes, limit)?;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// Applications can select another encoded-byte budget.</a:t>
            </a:r>
          </a:p>
          <a:p xmlns:a="http://schemas.openxmlformats.org/drawingml/2006/main">
            <a:pPr>
              <a:defRPr sz="2025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2025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let custom = EncodedSizeLimit::new(application_limit);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FDC9FC-A3B0-4EC7-B050-2CCDBBCB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The opt-in default admits up to 64 MiB.</a:t>
            </a:r>
          </a:p>
          <a:p xmlns:a="http://schemas.openxmlformats.org/drawingml/2006/main">
            <a:pPr>
              <a:defRPr sz="2325" b="0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F6F3EC"/>
                </a:solidFill>
                <a:latin typeface="Arial"/>
                <a:ea typeface="Arial"/>
                <a:cs typeface="Arial"/>
              </a:rPr>
              <a:t>Admission runs before upstream decoding.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F7F8C7-60F6-4E04-806F-29AC84D7B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This bounds encoded bytes. Aggregate decoded heap and CPU protection remain #495.</a:t>
            </a:r>
          </a:p>
        </p:txBody>
      </p:sp>
    </p:spTree>
    <p:extLst>
      <p:ext uri="{BB962C8B-B14F-4D97-AF65-F5344CB8AC3E}">
        <p14:creationId xmlns:p14="http://schemas.microsoft.com/office/powerpoint/2010/main" val="213085605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DBE8C5-7A29-493E-9B45-5E076739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DID v0.7.0 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A7E84B-C453-43A4-ABC0-A0B8AA12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7F0CAA-D66D-4CCE-890E-28D963D12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7622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05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705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41E4F-060F-4B01-B014-6E033B947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0990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original stateful exports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4572000" y="1762125"/>
          <a:ext xmlns:a="http://schemas.openxmlformats.org/drawingml/2006/main" cx="7010400" cy="3333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857500"/>
                <a:gridCol w="438150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Native and recording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Original source and lifecycle coverage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Relation scenarios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42 calls: 23 successes, 19 expected refusals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Strict proof scope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All 12 exports across qualified receipts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Fresh recovery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19 original + 6 reducer relation calls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1764F-5FA3-4B5C-A3E6-C92E6609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Constructor-derived deployment differs from proving constructor execution. Native ledger remains 8.0.3.</a:t>
            </a:r>
          </a:p>
        </p:txBody>
      </p:sp>
    </p:spTree>
    <p:extLst>
      <p:ext uri="{BB962C8B-B14F-4D97-AF65-F5344CB8AC3E}">
        <p14:creationId xmlns:p14="http://schemas.microsoft.com/office/powerpoint/2010/main" val="149169053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103A2-9CBF-48C4-B9FD-A439A1CD2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Digital-passport adoption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21E659-6F4D-408C-B67E-18C21024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43250"/>
                <a:gridCol w="7829550"/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Measure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Accepted scope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Source provenance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midnight-vc-passport consumer 2e13b029 and dependency 1a65558b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Source closure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17 original source files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Public API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75 pure exports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Behavior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202 finite exact cases and 4 cross-language codec vectors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Proof applicability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Zero applicable exports in this pure family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E064F3-0E5F-4ADA-9698-EBC40DB9F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Original source, unedited generated crates and minimal regression snippets retain separate identities.</a:t>
            </a:r>
          </a:p>
        </p:txBody>
      </p:sp>
    </p:spTree>
    <p:extLst>
      <p:ext uri="{BB962C8B-B14F-4D97-AF65-F5344CB8AC3E}">
        <p14:creationId xmlns:p14="http://schemas.microsoft.com/office/powerpoint/2010/main" val="210740907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D7F2DB-D915-4674-9412-6C05F5A85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Parity has separate dimensions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370533-58B0-4285-8D1E-5291BA3E6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40005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238500"/>
                <a:gridCol w="7734300"/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Dimension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What the milestone measures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Language / specification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Versioned inventory and bounded finite checks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TS and native behavior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Values, errors, state and witness observations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Recording / replay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Admitted effects and actual VM execution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Proof / application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Strict proof receipts for applicable calls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Network observations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Historical, explicitly bounded observations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Formal guarantees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No universal Rust correctness theorem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438964-3858-4825-8782-C66A3240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198 roots / 232 inputs / 1,055 functions describe inventory. They are not a universal parity percentage.</a:t>
            </a:r>
          </a:p>
        </p:txBody>
      </p:sp>
    </p:spTree>
    <p:extLst>
      <p:ext uri="{BB962C8B-B14F-4D97-AF65-F5344CB8AC3E}">
        <p14:creationId xmlns:p14="http://schemas.microsoft.com/office/powerpoint/2010/main" val="5095297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D58EFB-F6CC-4EFD-A74E-CFDF4E33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Final qualification preserves source identity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6A7F14-5094-457F-8703-CFE545A38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0B60D2-EAA2-42F4-B74D-4CFFBEBC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76400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423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13DF62-4ECD-4D04-AA8A-F060124C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3524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successful unchanged</a:t>
            </a:r>
          </a:p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prefix 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3389D8-0EBD-4A48-A58C-4322BCE9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676400"/>
            <a:ext cx="3143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54989C-9602-4E65-B38E-96751847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57500"/>
            <a:ext cx="3619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recovery commands</a:t>
            </a:r>
          </a:p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after the harness fix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7C5420-E4B9-464A-92A1-66EB90E3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676400"/>
            <a:ext cx="2286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000" b="1">
                <a:solidFill>
                  <a:srgbClr val="007F79"/>
                </a:solidFill>
                <a:latin typeface="Arial"/>
                <a:ea typeface="Arial"/>
                <a:cs typeface="Arial"/>
              </a:defRPr>
            </a:pPr>
            <a:r>
              <a:rPr sz="6000" b="1">
                <a:solidFill>
                  <a:srgbClr val="007F79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6EBAAF-0300-4329-93DD-300EC14C3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3095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successful required</a:t>
            </a:r>
          </a:p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proof-gate receipts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5646E7-C2AF-461E-A3BC-1A7237A9E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0"/>
            <a:ext cx="10763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The 551 full run failed on fresh key-output directories.</a:t>
            </a:r>
          </a:p>
          <a:p xmlns:a="http://schemas.openxmlformats.org/drawingml/2006/main">
            <a:pPr>
              <a:defRPr sz="2250" b="0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C36"/>
                </a:solidFill>
                <a:latin typeface="Arial"/>
                <a:ea typeface="Arial"/>
                <a:cs typeface="Arial"/>
              </a:rPr>
              <a:t>ADR 0366 repaired ownership and added a reproducing regression.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F8262A-1C28-472F-B27E-26909298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Acceptance combines unchanged-prefix reuse with recovery. The original failure stays recorded.</a:t>
            </a:r>
          </a:p>
        </p:txBody>
      </p:sp>
    </p:spTree>
    <p:extLst>
      <p:ext uri="{BB962C8B-B14F-4D97-AF65-F5344CB8AC3E}">
        <p14:creationId xmlns:p14="http://schemas.microsoft.com/office/powerpoint/2010/main" val="188205614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B01B49-02B9-488F-9A1D-884855DEB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Local and remote test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9C4BAA-386F-4678-9DAD-11F4C2CFB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9725"/>
          <a:ext xmlns:a="http://schemas.openxmlformats.org/drawingml/2006/main" cx="10972800" cy="414337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619500"/>
                <a:gridCol w="3238500"/>
                <a:gridCol w="4114800"/>
              </a:tblGrid>
              <a:tr h="59191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Cohort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Recorded result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Scope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Local core / fallback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1,012 passing cases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Successful unchanged prefix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Generated integrations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260 passing cases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Generated Rust behaviors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CLI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20 passing unit tests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Local compiler command surface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Harness recovery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151 passing tests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Includes fresh-key regression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Remote core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742 cases in 63 blocks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Candidate f9a49666, Linux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Remote Rust 1.88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Selected compilation passed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Backend/Jubjub + standalone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DB0F4-48B0-433B-B1B8-E455E989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These cohorts overlap. Proof and source guards provide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53405475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1E7CCD-E38B-4E7D-8988-599328FF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Coverage with explicit denominators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32627F-F322-4FA5-AC78-232D7CE4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857625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4619625"/>
                <a:gridCol w="3476625"/>
                <a:gridCol w="2876550"/>
              </a:tblGrid>
              <a:tr h="642938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Component / measure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Covered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Coverage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Runtime changed lines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367 / 375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97.87%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Runtime mapped lines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6,059 / 6,883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88.03%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Testkit measured lines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411 / 421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97.62%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Backend accepted cohort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Retained qualified report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95.11%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2938"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Macros accepted cohort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Retained qualified report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100%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89F6DB-58B3-468C-A080-F7A782D7A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Component cohorts differ. Line coverage does not establish branch, MC/DC or full language coverage.</a:t>
            </a:r>
          </a:p>
        </p:txBody>
      </p:sp>
    </p:spTree>
    <p:extLst>
      <p:ext uri="{BB962C8B-B14F-4D97-AF65-F5344CB8AC3E}">
        <p14:creationId xmlns:p14="http://schemas.microsoft.com/office/powerpoint/2010/main" val="119004219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D687E2-84BB-4049-9054-4E9BC511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Audit and adversarial assurance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B4739F-AB8B-4AAD-A331-860D50DA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190875"/>
                <a:gridCol w="7781925"/>
              </a:tblGrid>
              <a:tr h="6508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Area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Delivered evidence / disposition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Runtime boundaries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Checked VM operands, wide-operation errors and byte admission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Failure controls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Misuse compile failures, negative cases and guard mutants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Review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Internal audit and independent external coding-agent reviews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Dependencies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Zero vulnerability matches in the retained RustSec scan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Residual notices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4 workspace / 3 standalone notices, tracked in #471–474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8465D4-3C53-4DF6-AD90-AEFEDA00C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The scanner exits nonzero on notices. Coding-agent review does not provide human security certification.</a:t>
            </a:r>
          </a:p>
        </p:txBody>
      </p:sp>
    </p:spTree>
    <p:extLst>
      <p:ext uri="{BB962C8B-B14F-4D97-AF65-F5344CB8AC3E}">
        <p14:creationId xmlns:p14="http://schemas.microsoft.com/office/powerpoint/2010/main" val="182162545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FB0221-B4CC-4BBF-B1AE-D887B07C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WASM and distribution scope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723FA5-EB3E-43D3-97BA-82C27C6D9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76400"/>
          <a:ext xmlns:a="http://schemas.openxmlformats.org/drawingml/2006/main" cx="10972800" cy="38862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714625"/>
                <a:gridCol w="4000500"/>
                <a:gridCol w="4257675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Surface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Qualified scope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Limit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Node / browser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Pure, hash, Counter and witnessed Cell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Bounded experiment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Versions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Node 24.14 and Chromium 151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No universal engine claim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External consumer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W2 tests on Rust 1.99 and 1.88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Explicit source / lock cohort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Portable package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Relocation, spaces and symlink smoke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Authenticated debug CLI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Distribution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TS + strict Rust generation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Full optimized Nix build remains outside scope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C461B8-A9A0-4B5A-AB3E-29CB6F864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Browser proving, Windows certification and production WASM remain unqualified.</a:t>
            </a:r>
          </a:p>
        </p:txBody>
      </p:sp>
    </p:spTree>
    <p:extLst>
      <p:ext uri="{BB962C8B-B14F-4D97-AF65-F5344CB8AC3E}">
        <p14:creationId xmlns:p14="http://schemas.microsoft.com/office/powerpoint/2010/main" val="463187811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F7AEB3-AA76-41CA-87BC-FC0DB0D3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TypeScript and Rust AST tradeoffs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5BF3C4-3D62-4A35-987C-E95CCD941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21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38300"/>
          <a:ext xmlns:a="http://schemas.openxmlformats.org/drawingml/2006/main" cx="10972800" cy="39624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457450"/>
                <a:gridCol w="4133850"/>
                <a:gridCol w="4381500"/>
              </a:tblGrid>
              <a:tr h="660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Aspect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TypeScript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Rust AST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Integration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Established JS / wallet ecosystem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Direct official ledger / zk crates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Misuse prevention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Types plus runtime checks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Moves and private construction add constraints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Generated API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JS tooling and provider conventions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Typed contexts, traits and owned handoffs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Operational work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JS packages and provider setup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Rust features, builds and material setup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604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Parity evidence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Independent behavior oracle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Native / replay / proof claims per scope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0B78F-6769-4C6A-B96C-D37FB9E4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Safety and performance claims require specific guarantees and measurements.</a:t>
            </a:r>
          </a:p>
        </p:txBody>
      </p:sp>
    </p:spTree>
    <p:extLst>
      <p:ext uri="{BB962C8B-B14F-4D97-AF65-F5344CB8AC3E}">
        <p14:creationId xmlns:p14="http://schemas.microsoft.com/office/powerpoint/2010/main" val="148765859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C457AF-1471-450D-AE65-7CC0B3E7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Develop integration needs a separate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C1EED-8B37-46E7-BE73-D9B8A7BD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66875"/>
          <a:ext xmlns:a="http://schemas.openxmlformats.org/drawingml/2006/main" cx="10972800" cy="381000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3429000"/>
                <a:gridCol w="3771900"/>
                <a:gridCol w="3771900"/>
              </a:tblGrid>
              <a:tr h="635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develop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Rust-AST closure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Compiler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0.31.114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0.31.133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Runtime / macros package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0.16.100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0.2.0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Ledger pin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8.0.2 flake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8.0.3 Rust graph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Unique commits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77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684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3500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Merge result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17conflict paths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Draft PR for review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58A425-0FB8-47C1-80B4-B5BAC11A1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The PR includes earlier AST milestones. A merged develop tree needs its own qualification.</a:t>
            </a:r>
          </a:p>
        </p:txBody>
      </p:sp>
    </p:spTree>
    <p:extLst>
      <p:ext uri="{BB962C8B-B14F-4D97-AF65-F5344CB8AC3E}">
        <p14:creationId xmlns:p14="http://schemas.microsoft.com/office/powerpoint/2010/main" val="207390654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6F3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3B318-52DE-4952-9FF4-6726B585B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172C36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C36"/>
                </a:solidFill>
                <a:latin typeface="Arial"/>
                <a:ea typeface="Arial"/>
                <a:cs typeface="Arial"/>
              </a:rPr>
              <a:t>Accepted baseline and remaining work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FFFC2C-F200-418B-B878-79F98AAC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23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573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5048250"/>
                <a:gridCol w="5924550"/>
              </a:tblGrid>
              <a:tr h="6508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Accepted baseline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6F3EC"/>
                          </a:solidFill>
                          <a:latin typeface="Arial"/>
                          <a:ea typeface="Arial"/>
                          <a:cs typeface="Arial"/>
                        </a:rPr>
                        <a:t>Separate follow-up</a:t>
                      </a:r>
                    </a:p>
                  </a:txBody>
                  <a:tcPr marL="91440" marR="91440" marT="45720" marB="45720">
                    <a:solidFill>
                      <a:srgbClr val="172C36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19 required outcomes and closed milestone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Develop integration and its own validation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121 new ADRs and current developer guides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User-owned 0.4 proposals remain separate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Configurable 64 MiB encoded admission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Aggregate decoder heap / CPU containment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Optional official-provider test fixture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Production client orchestration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Bounded conformance and WASM research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2C36"/>
                          </a:solidFill>
                          <a:latin typeface="Arial"/>
                          <a:ea typeface="Arial"/>
                          <a:cs typeface="Arial"/>
                        </a:rPr>
                        <a:t>Broader semantics and production platform support</a:t>
                      </a:r>
                    </a:p>
                  </a:txBody>
                  <a:tcPr marL="91440" marR="91440" marT="45720" marB="45720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096F1-154C-4622-A46D-97E2CA7B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0646C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0646C"/>
                </a:solidFill>
                <a:latin typeface="Arial"/>
                <a:ea typeface="Arial"/>
                <a:cs typeface="Arial"/>
              </a:rPr>
              <a:t>Compiler/crate versions stay unchanged. Tags and registry publication remain separate actions.</a:t>
            </a:r>
          </a:p>
        </p:txBody>
      </p:sp>
    </p:spTree>
    <p:extLst>
      <p:ext uri="{BB962C8B-B14F-4D97-AF65-F5344CB8AC3E}">
        <p14:creationId xmlns:p14="http://schemas.microsoft.com/office/powerpoint/2010/main" val="157665561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122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AC644-0B14-48D1-8590-351C530B9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6F3EC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F6F3EC"/>
                </a:solidFill>
                <a:latin typeface="Arial"/>
                <a:ea typeface="Arial"/>
                <a:cs typeface="Arial"/>
              </a:rPr>
              <a:t>Review entry points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3950EA-B628-4ECB-A600-5419E2A48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81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A8C3C8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A8C3C8"/>
                </a:solidFill>
                <a:latin typeface="Arial"/>
                <a:ea typeface="Arial"/>
                <a:cs typeface="Arial"/>
              </a:rPr>
              <a:t>24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0D6F46-C19E-48B9-9D50-C08BB1D4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647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Qualified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345EE-2DC8-43BA-953D-1C4E64257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47900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40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f9a49666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4302F-7437-4F4E-91EA-866296EA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Developer guides and 121 milestone ADRs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AE8435-8141-4E56-8461-F2FA6917D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81425"/>
            <a:ext cx="10477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40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20cd967e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9F26C-C079-46A4-92EF-25F47F3C8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91075"/>
            <a:ext cx="10001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BAD0D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BAD0D2"/>
                </a:solidFill>
                <a:latin typeface="Arial"/>
                <a:ea typeface="Arial"/>
                <a:cs typeface="Arial"/>
              </a:rPr>
              <a:t>Final report and 93-criterion crosswalk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2A04E1-D271-42E3-83D6-9F240DE79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05425"/>
            <a:ext cx="9525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050" b="0">
                <a:solidFill>
                  <a:srgbClr val="BCE7D6"/>
                </a:solidFill>
                <a:latin typeface="Menlo"/>
                <a:ea typeface="Menlo"/>
                <a:cs typeface="Menlo"/>
              </a:defRPr>
            </a:pPr>
            <a:r>
              <a:rPr sz="4050" b="0">
                <a:solidFill>
                  <a:srgbClr val="BCE7D6"/>
                </a:solidFill>
                <a:latin typeface="Menlo"/>
                <a:ea typeface="Menlo"/>
                <a:cs typeface="Menlo"/>
              </a:rPr>
              <a:t>0d7610b2</a:t>
            </a:r>
          </a:p>
        </p:txBody>
      </p:sp>
    </p:spTree>
    <p:extLst>
      <p:ext uri="{BB962C8B-B14F-4D97-AF65-F5344CB8AC3E}">
        <p14:creationId xmlns:p14="http://schemas.microsoft.com/office/powerpoint/2010/main" val="6826189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2026-10-08T22:13:46.5720000Z</dcterms:created>
  <dcterms:modified xsi:type="dcterms:W3CDTF">2026-10-08T22:13:46.5720000Z</dcterms:modified>
</coreProperties>
</file>